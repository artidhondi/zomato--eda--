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AC6B6-DA87-2094-B470-CE8543C68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72C8C-D505-68C2-09C1-27241085B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163C9-8B42-52CB-9841-F5154E3D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22B79-6186-D051-7F5E-C8E9D091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34342-F1D7-7045-DCEA-C1BC316FA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18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1E574-1EE6-25D3-47BF-1DE884AE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4EE13-673A-08E2-609F-F10EDCFDB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A61F-FC8D-02B7-6B7E-CE08B097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9911-9DB7-2FA8-29A5-B0949198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8A273-83C9-4CBF-1ABA-94C69F2D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01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0BAA-C11A-22D5-4E14-73FAD752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A33F9-7975-D3BB-C4EA-6C5EF9310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77202-9403-85EB-998A-E546FB4D6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0B7E-A8D3-DC1F-E504-74BC6E45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F0A91-24D5-184C-A35D-9AA4FCCC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03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F564-9ACB-9FD0-82CA-F1C73A20E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95316-22E6-5B01-480F-89A70D621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F2BB4-2D95-DE0A-D42F-9CC1D5D55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DC60C-48EF-D496-C260-C7A446B5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ACEB2-DB0A-72BB-D33F-EF88C848E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D8AE4-D77D-9850-432B-D8B45A53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715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8EA2-0592-73CE-4FAB-4EABF3A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01874-E4C5-DB8A-A2A9-EACEB771C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14C0E-CB42-0411-B372-E4AAC4051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0968E-82B2-DCA1-04A4-B31728097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292CCD-77C4-1CBB-95AC-BF6D57984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78C645-21BE-27B5-F498-49E4E0A8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AFE6E-1EC3-D324-6FC5-BFD69FDB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D9545-F86C-2194-BA9C-254623CE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282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EAECA-12BE-3B80-31C4-923C2575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7B544F-F838-B7D2-6BDB-8254D72D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03D55-D6D8-7FEB-2044-192DCE23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4418D-9685-3E45-A1F2-98DFAE934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07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38DF6-53C7-0FDB-8DCB-51269012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2B37D-6EA2-C55A-1A0C-8BA8C1C3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8CE93-3505-4251-B4DD-0F862EA1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289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7780-9DFD-B4EF-059B-5A78EB88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31BCC-F523-552E-38E0-09B99BB87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6776-F640-E860-D915-609F2039F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571E7-5144-086E-7BE0-6EBB2C56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4AB7-3D30-3E5B-E354-F0A1B2AA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FBC4D-D52E-F908-95A4-D6F6B6F6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32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EAD2-BCBB-B3E4-CC1C-393D3412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1DA93-397D-73D5-F9C1-620CF5444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DF6F4-C229-4DD8-183A-A616AC43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67A74-91CA-FB30-74CF-7C0A0695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F5730-FB0B-1115-020F-EEA8881C1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43B9A-3CA3-C489-AF46-07B88A3C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31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D8E5-0148-05D8-947C-8F2950779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A2CA9-6E88-CBEB-7C58-83F7E50F2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CAB6-52AB-7AE1-7037-52CA18DA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646C0-BDDF-FACE-AA04-B9EA7463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9B23D-719C-AD21-CDA4-EEAB44A9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2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19441-B55E-3AE0-C710-9511AF074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BDBFF-AB92-197A-448D-2ED692621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1CE1-752A-F9A1-CB57-396612CB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A567C-6ABC-5451-0F28-4418D0D1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DD45A-0CD1-F572-DF21-AA5550F0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41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6733B-5B9D-4354-EC0E-7FF9A7BF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198C2-8A07-A73F-20F4-FE72910C2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FE7B-48C8-D6CF-4E96-0E8798023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F294F-110A-4F45-93C2-5B8F41A007CB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08666-FED0-4D8F-9218-098E53D13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66F50-88CF-02BF-D08E-548507B1A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95F77-4BD8-4866-B4DD-337BE765B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920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C4D1-87F7-F803-31D3-43594A09F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438399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chemeClr val="accent1">
                    <a:lumMod val="75000"/>
                  </a:schemeClr>
                </a:solidFill>
              </a:rPr>
              <a:t>DATA ANALYSIS PROJECT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DC6B8-327F-4AD6-55AC-91EBCFAD1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8194" y="2949677"/>
            <a:ext cx="9065342" cy="993802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chemeClr val="bg2"/>
                </a:solidFill>
                <a:highlight>
                  <a:srgbClr val="FF0000"/>
                </a:highlight>
              </a:rPr>
              <a:t>ZOMATO</a:t>
            </a:r>
          </a:p>
        </p:txBody>
      </p:sp>
    </p:spTree>
    <p:extLst>
      <p:ext uri="{BB962C8B-B14F-4D97-AF65-F5344CB8AC3E}">
        <p14:creationId xmlns:p14="http://schemas.microsoft.com/office/powerpoint/2010/main" val="3124100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88F42B-E3BF-55FA-7FF5-5B94C8FC3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ABOUT THE  PROJECT </a:t>
            </a:r>
            <a:r>
              <a:rPr lang="en-IN" b="1" dirty="0"/>
              <a:t>: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15E7C-0875-5C9A-AB0F-43E31097A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Zomato has average of 17.5 millions monthly transacting customers for food delivery business. </a:t>
            </a:r>
          </a:p>
          <a:p>
            <a:r>
              <a:rPr lang="en-IN" dirty="0"/>
              <a:t>Average monthly active food delivery restaurant partners on Zomato’s platform have also increased by 8.7% year – on – year , from 20800 to 226000 . </a:t>
            </a:r>
          </a:p>
          <a:p>
            <a:r>
              <a:rPr lang="en-IN" dirty="0"/>
              <a:t>So I am create a professional dataset of and analyse the data , perform EDA(exploratory Data analysis) and visualization . </a:t>
            </a:r>
          </a:p>
          <a:p>
            <a:r>
              <a:rPr lang="en-IN" dirty="0"/>
              <a:t>I am perform the following answer of questions :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859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1BEE7E-9B56-20B8-D0BA-0E278D65CDCF}"/>
              </a:ext>
            </a:extLst>
          </p:cNvPr>
          <p:cNvSpPr txBox="1"/>
          <p:nvPr/>
        </p:nvSpPr>
        <p:spPr>
          <a:xfrm>
            <a:off x="275304" y="424933"/>
            <a:ext cx="1124810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Perform the following answer of questions in this project</a:t>
            </a:r>
          </a:p>
          <a:p>
            <a:r>
              <a:rPr lang="en-IN" sz="2400" b="1" dirty="0"/>
              <a:t> 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what type of restaurant do the majority of customer order from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How many votes has each type of restaurant received from customers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What are the ratings that the majority of restaurant have received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Zomato has observed the most couples order most of their food online . What is their average spending on each order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Which mode(online – offline)  has received maximum rating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Which type of restaurant received more offline order . So that Zomato can provide customers with some good offers  </a:t>
            </a:r>
          </a:p>
          <a:p>
            <a:r>
              <a:rPr lang="en-IN" sz="2400" b="1" dirty="0"/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7706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180E5E-A9F2-26F3-0DE1-121F6C4D1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741"/>
              </p:ext>
            </p:extLst>
          </p:nvPr>
        </p:nvGraphicFramePr>
        <p:xfrm>
          <a:off x="993058" y="983226"/>
          <a:ext cx="7393883" cy="573220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39918">
                  <a:extLst>
                    <a:ext uri="{9D8B030D-6E8A-4147-A177-3AD203B41FA5}">
                      <a16:colId xmlns:a16="http://schemas.microsoft.com/office/drawing/2014/main" val="146900631"/>
                    </a:ext>
                  </a:extLst>
                </a:gridCol>
                <a:gridCol w="1097003">
                  <a:extLst>
                    <a:ext uri="{9D8B030D-6E8A-4147-A177-3AD203B41FA5}">
                      <a16:colId xmlns:a16="http://schemas.microsoft.com/office/drawing/2014/main" val="4032319215"/>
                    </a:ext>
                  </a:extLst>
                </a:gridCol>
                <a:gridCol w="1097003">
                  <a:extLst>
                    <a:ext uri="{9D8B030D-6E8A-4147-A177-3AD203B41FA5}">
                      <a16:colId xmlns:a16="http://schemas.microsoft.com/office/drawing/2014/main" val="1161496172"/>
                    </a:ext>
                  </a:extLst>
                </a:gridCol>
                <a:gridCol w="620695">
                  <a:extLst>
                    <a:ext uri="{9D8B030D-6E8A-4147-A177-3AD203B41FA5}">
                      <a16:colId xmlns:a16="http://schemas.microsoft.com/office/drawing/2014/main" val="1807276962"/>
                    </a:ext>
                  </a:extLst>
                </a:gridCol>
                <a:gridCol w="482735">
                  <a:extLst>
                    <a:ext uri="{9D8B030D-6E8A-4147-A177-3AD203B41FA5}">
                      <a16:colId xmlns:a16="http://schemas.microsoft.com/office/drawing/2014/main" val="407683771"/>
                    </a:ext>
                  </a:extLst>
                </a:gridCol>
                <a:gridCol w="998938">
                  <a:extLst>
                    <a:ext uri="{9D8B030D-6E8A-4147-A177-3AD203B41FA5}">
                      <a16:colId xmlns:a16="http://schemas.microsoft.com/office/drawing/2014/main" val="3466872908"/>
                    </a:ext>
                  </a:extLst>
                </a:gridCol>
                <a:gridCol w="1193957">
                  <a:extLst>
                    <a:ext uri="{9D8B030D-6E8A-4147-A177-3AD203B41FA5}">
                      <a16:colId xmlns:a16="http://schemas.microsoft.com/office/drawing/2014/main" val="2681113667"/>
                    </a:ext>
                  </a:extLst>
                </a:gridCol>
                <a:gridCol w="1263634">
                  <a:extLst>
                    <a:ext uri="{9D8B030D-6E8A-4147-A177-3AD203B41FA5}">
                      <a16:colId xmlns:a16="http://schemas.microsoft.com/office/drawing/2014/main" val="2373250131"/>
                    </a:ext>
                  </a:extLst>
                </a:gridCol>
              </a:tblGrid>
              <a:tr h="717118">
                <a:tc>
                  <a:txBody>
                    <a:bodyPr/>
                    <a:lstStyle/>
                    <a:p>
                      <a:pPr algn="r" fontAlgn="ctr"/>
                      <a:endParaRPr lang="en-IN" sz="1100" b="1" dirty="0">
                        <a:effectLst/>
                      </a:endParaRPr>
                    </a:p>
                    <a:p>
                      <a:pPr algn="r" fontAlgn="ctr"/>
                      <a:r>
                        <a:rPr lang="en-IN" sz="1100" b="1" dirty="0">
                          <a:effectLst/>
                        </a:rPr>
                        <a:t>S.NO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 dirty="0">
                          <a:effectLst/>
                        </a:rPr>
                        <a:t>Name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 dirty="0" err="1">
                          <a:effectLst/>
                        </a:rPr>
                        <a:t>Online_order</a:t>
                      </a:r>
                      <a:endParaRPr lang="en-IN" sz="1100" b="1" dirty="0">
                        <a:effectLst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 dirty="0">
                          <a:effectLst/>
                        </a:rPr>
                        <a:t>Book _table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 dirty="0">
                          <a:effectLst/>
                        </a:rPr>
                        <a:t>rate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dirty="0">
                          <a:effectLst/>
                        </a:rPr>
                        <a:t>  votes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dirty="0" err="1">
                          <a:effectLst/>
                        </a:rPr>
                        <a:t>approx_cost</a:t>
                      </a:r>
                      <a:r>
                        <a:rPr lang="en-US" sz="1100" b="1" dirty="0">
                          <a:effectLst/>
                        </a:rPr>
                        <a:t>(for two people)</a:t>
                      </a:r>
                      <a:endParaRPr lang="en-IN" sz="1100" b="1" dirty="0">
                        <a:effectLst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IN" sz="1100" b="1" dirty="0">
                        <a:effectLst/>
                      </a:endParaRPr>
                    </a:p>
                    <a:p>
                      <a:pPr algn="r" fontAlgn="ctr"/>
                      <a:endParaRPr lang="en-IN" sz="1100" b="1" dirty="0">
                        <a:effectLst/>
                      </a:endParaRPr>
                    </a:p>
                    <a:p>
                      <a:pPr algn="r" fontAlgn="ctr"/>
                      <a:r>
                        <a:rPr lang="en-IN" sz="1100" b="1" dirty="0" err="1">
                          <a:effectLst/>
                        </a:rPr>
                        <a:t>Listed_in</a:t>
                      </a:r>
                      <a:r>
                        <a:rPr lang="en-IN" sz="1100" b="1" dirty="0">
                          <a:effectLst/>
                        </a:rPr>
                        <a:t>(type</a:t>
                      </a:r>
                    </a:p>
                  </a:txBody>
                  <a:tcPr marL="53720" marR="53720" marT="26860" marB="26860"/>
                </a:tc>
                <a:extLst>
                  <a:ext uri="{0D108BD9-81ED-4DB2-BD59-A6C34878D82A}">
                    <a16:rowId xmlns:a16="http://schemas.microsoft.com/office/drawing/2014/main" val="1989044921"/>
                  </a:ext>
                </a:extLst>
              </a:tr>
              <a:tr h="281495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dirty="0" err="1">
                          <a:effectLst/>
                        </a:rPr>
                        <a:t>Jalsa</a:t>
                      </a:r>
                      <a:endParaRPr lang="en-IN" sz="1100" dirty="0">
                        <a:effectLst/>
                      </a:endParaRP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Yes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Yes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4.1/5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775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800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Buffet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507469639"/>
                  </a:ext>
                </a:extLst>
              </a:tr>
              <a:tr h="49467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1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Spice Elephant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Yes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4.1/5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787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800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Buffet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144030160"/>
                  </a:ext>
                </a:extLst>
              </a:tr>
              <a:tr h="49467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San Churro Cafe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Yes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3.8/5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918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dirty="0">
                          <a:effectLst/>
                        </a:rPr>
                        <a:t>800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Buffet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99786524"/>
                  </a:ext>
                </a:extLst>
              </a:tr>
              <a:tr h="70785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Addhuri Udupi Bhojana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dirty="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dirty="0">
                          <a:effectLst/>
                        </a:rPr>
                        <a:t>3.7/5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dirty="0">
                          <a:effectLst/>
                        </a:rPr>
                        <a:t>88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300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Buffet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63159488"/>
                  </a:ext>
                </a:extLst>
              </a:tr>
              <a:tr h="49467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4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Grand Village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3.8/5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166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600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Buffet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542449242"/>
                  </a:ext>
                </a:extLst>
              </a:tr>
              <a:tr h="281495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...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...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...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...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...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...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...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...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630756459"/>
                  </a:ext>
                </a:extLst>
              </a:tr>
              <a:tr h="49467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143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Melting Melodies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dirty="0">
                          <a:effectLst/>
                        </a:rPr>
                        <a:t>3.3/5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100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Dining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272879328"/>
                  </a:ext>
                </a:extLst>
              </a:tr>
              <a:tr h="49467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144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New Indraprasta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3.3/5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150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Dining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295251411"/>
                  </a:ext>
                </a:extLst>
              </a:tr>
              <a:tr h="49467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145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Anna Kuteera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Yes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4.0/5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771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dirty="0">
                          <a:effectLst/>
                        </a:rPr>
                        <a:t>450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Dining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481096694"/>
                  </a:ext>
                </a:extLst>
              </a:tr>
              <a:tr h="281495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146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Darbar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3.0/5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98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800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Dining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218376056"/>
                  </a:ext>
                </a:extLst>
              </a:tr>
              <a:tr h="49467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b="1">
                          <a:effectLst/>
                        </a:rPr>
                        <a:t>147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Vijayalakshmi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Yes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3.9/5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47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>
                          <a:effectLst/>
                        </a:rPr>
                        <a:t>200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dirty="0">
                          <a:effectLst/>
                        </a:rPr>
                        <a:t>Dining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1348969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199D2C2-FE47-1CD4-F5C5-B38C27715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344" y="1854117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595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27116A-53CA-34AA-3B41-08DC64529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961" y="233403"/>
            <a:ext cx="6403035" cy="1364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b="1" dirty="0">
                <a:solidFill>
                  <a:schemeClr val="accent1">
                    <a:lumMod val="75000"/>
                  </a:schemeClr>
                </a:solidFill>
                <a:latin typeface="inherit"/>
              </a:rPr>
              <a:t>C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inherit"/>
              </a:rPr>
              <a:t>onvert the datatype of column - rate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80075C-33E3-23BB-81DE-7B8241083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597847"/>
            <a:ext cx="628772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inherit"/>
                <a:cs typeface="Courier New" panose="02070309020205020404" pitchFamily="49" charset="0"/>
              </a:rPr>
              <a:t>Code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effectLst/>
              <a:latin typeface="inherit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def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inherit"/>
                <a:cs typeface="Courier New" panose="02070309020205020404" pitchFamily="49" charset="0"/>
              </a:rPr>
              <a:t>handleRate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 (value):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inherit"/>
                <a:cs typeface="Courier New" panose="02070309020205020404" pitchFamily="49" charset="0"/>
              </a:rPr>
              <a:t>        value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AA22FF"/>
                </a:solidFill>
                <a:effectLst/>
                <a:latin typeface="inherit"/>
                <a:cs typeface="Courier New" panose="020703090202050204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str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(value).split(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A2121"/>
                </a:solidFill>
                <a:effectLst/>
                <a:latin typeface="inherit"/>
                <a:cs typeface="Courier New" panose="02070309020205020404" pitchFamily="49" charset="0"/>
              </a:rPr>
              <a:t>"/"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inherit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inherit"/>
                <a:cs typeface="Courier New" panose="020703090202050204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value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AA22FF"/>
                </a:solidFill>
                <a:effectLst/>
                <a:latin typeface="inherit"/>
                <a:cs typeface="Courier New" panose="020703090202050204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value[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inherit"/>
                <a:cs typeface="Courier New" panose="020703090202050204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inherit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     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float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(value)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inherit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A2121"/>
                </a:solidFill>
                <a:effectLst/>
                <a:latin typeface="inherit"/>
                <a:cs typeface="Courier New" panose="02070309020205020404" pitchFamily="49" charset="0"/>
              </a:rPr>
              <a:t>"rate"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]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AA22FF"/>
                </a:solidFill>
                <a:effectLst/>
                <a:latin typeface="inherit"/>
                <a:cs typeface="Courier New" panose="02070309020205020404" pitchFamily="49" charset="0"/>
              </a:rPr>
              <a:t>=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A2121"/>
                </a:solidFill>
                <a:effectLst/>
                <a:latin typeface="inherit"/>
                <a:cs typeface="Courier New" panose="02070309020205020404" pitchFamily="49" charset="0"/>
              </a:rPr>
              <a:t>"rate"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].apply(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handleRate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inherit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inherit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inherit"/>
                <a:cs typeface="Courier New" panose="02070309020205020404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dataframe.head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())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50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3AEC4-C9D9-3E49-31FD-6EAB2A60C6C4}"/>
              </a:ext>
            </a:extLst>
          </p:cNvPr>
          <p:cNvSpPr txBox="1"/>
          <p:nvPr/>
        </p:nvSpPr>
        <p:spPr>
          <a:xfrm>
            <a:off x="167147" y="149631"/>
            <a:ext cx="1121860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>
                <a:solidFill>
                  <a:schemeClr val="accent1">
                    <a:lumMod val="75000"/>
                  </a:schemeClr>
                </a:solidFill>
                <a:effectLst/>
                <a:latin typeface="Helvetica Neue"/>
              </a:rPr>
              <a:t>Type of restaurant</a:t>
            </a:r>
          </a:p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Helvetica Neue"/>
              </a:rPr>
              <a:t>1) solution</a:t>
            </a:r>
          </a:p>
          <a:p>
            <a:r>
              <a:rPr lang="en-IN" sz="2400" b="1" i="0" dirty="0">
                <a:solidFill>
                  <a:srgbClr val="000000"/>
                </a:solidFill>
                <a:effectLst/>
                <a:latin typeface="Helvetica Neue"/>
              </a:rPr>
              <a:t>code:</a:t>
            </a:r>
          </a:p>
          <a:p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sns.countplot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(x=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dataframe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["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listed_in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(type)"])</a:t>
            </a:r>
          </a:p>
          <a:p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plt.xlabel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("type of </a:t>
            </a:r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resturent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")</a:t>
            </a:r>
          </a:p>
          <a:p>
            <a:r>
              <a:rPr lang="en-US" sz="1400" b="1" i="0" dirty="0" err="1">
                <a:solidFill>
                  <a:srgbClr val="000000"/>
                </a:solidFill>
                <a:effectLst/>
                <a:latin typeface="Helvetica Neue"/>
              </a:rPr>
              <a:t>plt.show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Helvetica Neue"/>
              </a:rPr>
              <a:t>()</a:t>
            </a:r>
          </a:p>
          <a:p>
            <a:endParaRPr lang="en-US" sz="1400" b="1" dirty="0">
              <a:solidFill>
                <a:srgbClr val="000000"/>
              </a:solidFill>
              <a:latin typeface="Helvetica Neue"/>
            </a:endParaRPr>
          </a:p>
          <a:p>
            <a:r>
              <a:rPr lang="en-IN" sz="1400" b="1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A6B95-068D-EE4F-02E7-A316CB267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93" y="1494503"/>
            <a:ext cx="7678149" cy="536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82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87A43-49E6-EDC9-C98D-06FE7DC9FF34}"/>
              </a:ext>
            </a:extLst>
          </p:cNvPr>
          <p:cNvSpPr txBox="1"/>
          <p:nvPr/>
        </p:nvSpPr>
        <p:spPr>
          <a:xfrm>
            <a:off x="137651" y="233034"/>
            <a:ext cx="791496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2)Solution</a:t>
            </a:r>
          </a:p>
          <a:p>
            <a:r>
              <a:rPr lang="en-IN" sz="2400" b="1" dirty="0"/>
              <a:t>Code:</a:t>
            </a:r>
          </a:p>
          <a:p>
            <a:r>
              <a:rPr lang="en-IN" dirty="0" err="1"/>
              <a:t>grouped_data</a:t>
            </a:r>
            <a:r>
              <a:rPr lang="en-IN" dirty="0"/>
              <a:t>=</a:t>
            </a:r>
            <a:r>
              <a:rPr lang="en-IN" dirty="0" err="1"/>
              <a:t>dataframe.groupby</a:t>
            </a:r>
            <a:r>
              <a:rPr lang="en-IN" dirty="0"/>
              <a:t>("</a:t>
            </a:r>
            <a:r>
              <a:rPr lang="en-IN" dirty="0" err="1"/>
              <a:t>listed_in</a:t>
            </a:r>
            <a:r>
              <a:rPr lang="en-IN" dirty="0"/>
              <a:t>(type)")["votes"].sum()</a:t>
            </a:r>
          </a:p>
          <a:p>
            <a:r>
              <a:rPr lang="en-IN" dirty="0"/>
              <a:t>result=</a:t>
            </a:r>
            <a:r>
              <a:rPr lang="en-IN" dirty="0" err="1"/>
              <a:t>pd.DataFrame</a:t>
            </a:r>
            <a:r>
              <a:rPr lang="en-IN" dirty="0"/>
              <a:t>({"votes":</a:t>
            </a:r>
            <a:r>
              <a:rPr lang="en-IN" dirty="0" err="1"/>
              <a:t>grouped_data</a:t>
            </a:r>
            <a:r>
              <a:rPr lang="en-IN" dirty="0"/>
              <a:t>})</a:t>
            </a:r>
          </a:p>
          <a:p>
            <a:r>
              <a:rPr lang="en-IN" dirty="0" err="1"/>
              <a:t>plt.plot</a:t>
            </a:r>
            <a:r>
              <a:rPr lang="en-IN" dirty="0"/>
              <a:t>(</a:t>
            </a:r>
            <a:r>
              <a:rPr lang="en-IN" dirty="0" err="1"/>
              <a:t>result,c</a:t>
            </a:r>
            <a:r>
              <a:rPr lang="en-IN" dirty="0"/>
              <a:t>="</a:t>
            </a:r>
            <a:r>
              <a:rPr lang="en-IN" dirty="0" err="1"/>
              <a:t>green",marker</a:t>
            </a:r>
            <a:r>
              <a:rPr lang="en-IN" dirty="0"/>
              <a:t>="o")</a:t>
            </a:r>
          </a:p>
          <a:p>
            <a:r>
              <a:rPr lang="en-IN" dirty="0" err="1"/>
              <a:t>plt.xlabel</a:t>
            </a:r>
            <a:r>
              <a:rPr lang="en-IN" dirty="0"/>
              <a:t>("Type of </a:t>
            </a:r>
            <a:r>
              <a:rPr lang="en-IN" dirty="0" err="1"/>
              <a:t>resturent</a:t>
            </a:r>
            <a:r>
              <a:rPr lang="en-IN" dirty="0"/>
              <a:t>",c="</a:t>
            </a:r>
            <a:r>
              <a:rPr lang="en-IN" dirty="0" err="1"/>
              <a:t>blue",size</a:t>
            </a:r>
            <a:r>
              <a:rPr lang="en-IN" dirty="0"/>
              <a:t>=20)</a:t>
            </a:r>
          </a:p>
          <a:p>
            <a:r>
              <a:rPr lang="en-IN" dirty="0" err="1"/>
              <a:t>plt.ylabel</a:t>
            </a:r>
            <a:r>
              <a:rPr lang="en-IN" dirty="0"/>
              <a:t>("</a:t>
            </a:r>
            <a:r>
              <a:rPr lang="en-IN" dirty="0" err="1"/>
              <a:t>votes",c</a:t>
            </a:r>
            <a:r>
              <a:rPr lang="en-IN" dirty="0"/>
              <a:t>="</a:t>
            </a:r>
            <a:r>
              <a:rPr lang="en-IN" dirty="0" err="1"/>
              <a:t>blue",size</a:t>
            </a:r>
            <a:r>
              <a:rPr lang="en-IN" dirty="0"/>
              <a:t>=20)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5176C-35DB-A9E8-309D-499D45F04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989" y="1507043"/>
            <a:ext cx="7602011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0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147DD7-DD3B-4D93-6AF9-BCE297C4E95B}"/>
              </a:ext>
            </a:extLst>
          </p:cNvPr>
          <p:cNvSpPr txBox="1"/>
          <p:nvPr/>
        </p:nvSpPr>
        <p:spPr>
          <a:xfrm>
            <a:off x="206477" y="226593"/>
            <a:ext cx="655811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3)Solution</a:t>
            </a:r>
          </a:p>
          <a:p>
            <a:r>
              <a:rPr lang="en-IN" sz="2000" b="1" dirty="0"/>
              <a:t>Code:</a:t>
            </a:r>
          </a:p>
          <a:p>
            <a:r>
              <a:rPr lang="en-IN" dirty="0" err="1"/>
              <a:t>plt.hist</a:t>
            </a:r>
            <a:r>
              <a:rPr lang="en-IN" dirty="0"/>
              <a:t>(</a:t>
            </a:r>
            <a:r>
              <a:rPr lang="en-IN" dirty="0" err="1"/>
              <a:t>dataframe</a:t>
            </a:r>
            <a:r>
              <a:rPr lang="en-IN" dirty="0"/>
              <a:t>["rate"],bins=5)</a:t>
            </a:r>
          </a:p>
          <a:p>
            <a:r>
              <a:rPr lang="en-IN" dirty="0" err="1"/>
              <a:t>plt.title</a:t>
            </a:r>
            <a:r>
              <a:rPr lang="en-IN" dirty="0"/>
              <a:t>("rating distribution")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C7101-21F5-CF2E-D65B-DC7D49DE4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535" y="1126415"/>
            <a:ext cx="823277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57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C03DF8-C7E1-7907-DDD7-3EEBCE199B1C}"/>
              </a:ext>
            </a:extLst>
          </p:cNvPr>
          <p:cNvSpPr txBox="1"/>
          <p:nvPr/>
        </p:nvSpPr>
        <p:spPr>
          <a:xfrm>
            <a:off x="98324" y="179128"/>
            <a:ext cx="1116944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  <a:latin typeface="Helvetica Neue"/>
              </a:rPr>
              <a:t>Average order spending by couples</a:t>
            </a:r>
          </a:p>
          <a:p>
            <a:endParaRPr lang="en-US" sz="1600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ctr"/>
            <a:r>
              <a:rPr lang="en-US" sz="2000" b="1" i="0" dirty="0">
                <a:solidFill>
                  <a:schemeClr val="accent6">
                    <a:lumMod val="50000"/>
                  </a:schemeClr>
                </a:solidFill>
                <a:effectLst/>
                <a:latin typeface="Helvetica Neue"/>
              </a:rPr>
              <a:t>4)Solution </a:t>
            </a:r>
          </a:p>
          <a:p>
            <a:r>
              <a:rPr lang="en-US" sz="1600" b="1" i="0" dirty="0" err="1">
                <a:solidFill>
                  <a:srgbClr val="000000"/>
                </a:solidFill>
                <a:effectLst/>
                <a:latin typeface="Helvetica Neue"/>
              </a:rPr>
              <a:t>couple_data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  <a:t>=</a:t>
            </a:r>
            <a:r>
              <a:rPr lang="en-US" sz="1600" b="1" i="0" dirty="0" err="1">
                <a:solidFill>
                  <a:srgbClr val="000000"/>
                </a:solidFill>
                <a:effectLst/>
                <a:latin typeface="Helvetica Neue"/>
              </a:rPr>
              <a:t>dataframe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  <a:t>["</a:t>
            </a:r>
            <a:r>
              <a:rPr lang="en-US" sz="1600" b="1" i="0" dirty="0" err="1">
                <a:solidFill>
                  <a:srgbClr val="000000"/>
                </a:solidFill>
                <a:effectLst/>
                <a:latin typeface="Helvetica Neue"/>
              </a:rPr>
              <a:t>approx_cost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  <a:t> (for two people)]</a:t>
            </a:r>
            <a:endParaRPr lang="en-US" sz="1600" b="1" i="0" dirty="0">
              <a:solidFill>
                <a:schemeClr val="accent6">
                  <a:lumMod val="50000"/>
                </a:schemeClr>
              </a:solidFill>
              <a:effectLst/>
              <a:latin typeface="Helvetica Neue"/>
            </a:endParaRPr>
          </a:p>
          <a:p>
            <a:r>
              <a:rPr lang="en-US" sz="1600" b="1" i="0" dirty="0" err="1">
                <a:solidFill>
                  <a:srgbClr val="000000"/>
                </a:solidFill>
                <a:effectLst/>
                <a:latin typeface="Helvetica Neue"/>
              </a:rPr>
              <a:t>sns.countplot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  <a:t>(x=</a:t>
            </a:r>
            <a:r>
              <a:rPr lang="en-US" sz="1600" b="1" i="0" dirty="0" err="1">
                <a:solidFill>
                  <a:srgbClr val="000000"/>
                </a:solidFill>
                <a:effectLst/>
                <a:latin typeface="Helvetica Neue"/>
              </a:rPr>
              <a:t>couple_data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  <a:t>)</a:t>
            </a:r>
          </a:p>
          <a:p>
            <a:r>
              <a:rPr lang="en-US" sz="1600" b="1" i="0" dirty="0" err="1">
                <a:solidFill>
                  <a:srgbClr val="000000"/>
                </a:solidFill>
                <a:effectLst/>
                <a:latin typeface="Helvetica Neue"/>
              </a:rPr>
              <a:t>plt.show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Helvetica Neue"/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C5C3C4-E155-63B5-D484-029395E22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045" y="1773280"/>
            <a:ext cx="8259212" cy="508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0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84BBD9-30C9-259E-6CD4-90FAFE1AB936}"/>
              </a:ext>
            </a:extLst>
          </p:cNvPr>
          <p:cNvSpPr txBox="1"/>
          <p:nvPr/>
        </p:nvSpPr>
        <p:spPr>
          <a:xfrm>
            <a:off x="550607" y="287283"/>
            <a:ext cx="103730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  <a:latin typeface="Helvetica Neue"/>
              </a:rPr>
              <a:t>which mode </a:t>
            </a:r>
            <a:r>
              <a:rPr lang="en-US" sz="3200" b="1" i="0" dirty="0" err="1">
                <a:solidFill>
                  <a:srgbClr val="000000"/>
                </a:solidFill>
                <a:effectLst/>
                <a:latin typeface="Helvetica Neue"/>
              </a:rPr>
              <a:t>recieves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Helvetica Neue"/>
              </a:rPr>
              <a:t> maximum rating</a:t>
            </a:r>
          </a:p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Helvetica Neue"/>
              </a:rPr>
              <a:t>5)Solution</a:t>
            </a:r>
          </a:p>
          <a:p>
            <a:r>
              <a:rPr lang="en-US" b="1" dirty="0">
                <a:latin typeface="Helvetica Neue"/>
              </a:rPr>
              <a:t>Code:</a:t>
            </a:r>
          </a:p>
          <a:p>
            <a:r>
              <a:rPr lang="en-US" b="1" dirty="0" err="1">
                <a:latin typeface="Helvetica Neue"/>
              </a:rPr>
              <a:t>plt.figure</a:t>
            </a:r>
            <a:r>
              <a:rPr lang="en-US" b="1" dirty="0">
                <a:latin typeface="Helvetica Neue"/>
              </a:rPr>
              <a:t>(</a:t>
            </a:r>
            <a:r>
              <a:rPr lang="en-US" b="1" dirty="0" err="1">
                <a:latin typeface="Helvetica Neue"/>
              </a:rPr>
              <a:t>figsize</a:t>
            </a:r>
            <a:r>
              <a:rPr lang="en-US" b="1" dirty="0">
                <a:latin typeface="Helvetica Neue"/>
              </a:rPr>
              <a:t> = (6,6))</a:t>
            </a:r>
          </a:p>
          <a:p>
            <a:r>
              <a:rPr lang="en-US" b="1" dirty="0" err="1">
                <a:latin typeface="Helvetica Neue"/>
              </a:rPr>
              <a:t>sns.boxplot</a:t>
            </a:r>
            <a:r>
              <a:rPr lang="en-US" b="1" dirty="0">
                <a:latin typeface="Helvetica Neue"/>
              </a:rPr>
              <a:t>(x="</a:t>
            </a:r>
            <a:r>
              <a:rPr lang="en-US" b="1" dirty="0" err="1">
                <a:latin typeface="Helvetica Neue"/>
              </a:rPr>
              <a:t>online_order",y</a:t>
            </a:r>
            <a:r>
              <a:rPr lang="en-US" b="1" dirty="0">
                <a:latin typeface="Helvetica Neue"/>
              </a:rPr>
              <a:t>="rate”</a:t>
            </a:r>
          </a:p>
          <a:p>
            <a:r>
              <a:rPr lang="en-US" b="1" dirty="0">
                <a:latin typeface="Helvetica Neue"/>
              </a:rPr>
              <a:t>,data=</a:t>
            </a:r>
            <a:r>
              <a:rPr lang="en-US" b="1" dirty="0" err="1">
                <a:latin typeface="Helvetica Neue"/>
              </a:rPr>
              <a:t>dataframe</a:t>
            </a:r>
            <a:r>
              <a:rPr lang="en-US" b="1" dirty="0">
                <a:latin typeface="Helvetica Neue"/>
              </a:rPr>
              <a:t>)</a:t>
            </a:r>
          </a:p>
          <a:p>
            <a:r>
              <a:rPr lang="en-US" b="1" dirty="0" err="1">
                <a:latin typeface="Helvetica Neue"/>
              </a:rPr>
              <a:t>plt.show</a:t>
            </a:r>
            <a:r>
              <a:rPr lang="en-US" b="1" dirty="0">
                <a:latin typeface="Helvetica Neue"/>
              </a:rPr>
              <a:t>()</a:t>
            </a:r>
          </a:p>
          <a:p>
            <a:pPr algn="ctr"/>
            <a:endParaRPr lang="en-US" sz="2000" b="1" i="0" dirty="0">
              <a:solidFill>
                <a:schemeClr val="accent6">
                  <a:lumMod val="50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D8935-0EE8-462E-40B0-5242744E7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471" y="1276046"/>
            <a:ext cx="7282685" cy="540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2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6B4143-76C2-11F2-DB9F-9CB090EE5011}"/>
              </a:ext>
            </a:extLst>
          </p:cNvPr>
          <p:cNvSpPr txBox="1"/>
          <p:nvPr/>
        </p:nvSpPr>
        <p:spPr>
          <a:xfrm>
            <a:off x="117987" y="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6">
                    <a:lumMod val="50000"/>
                  </a:schemeClr>
                </a:solidFill>
              </a:rPr>
              <a:t>6)Solution</a:t>
            </a:r>
          </a:p>
          <a:p>
            <a:r>
              <a:rPr lang="en-IN" b="1" dirty="0"/>
              <a:t>Code:</a:t>
            </a:r>
          </a:p>
          <a:p>
            <a:r>
              <a:rPr lang="en-IN" dirty="0" err="1"/>
              <a:t>pivot_table</a:t>
            </a:r>
            <a:r>
              <a:rPr lang="en-IN" dirty="0"/>
              <a:t>=</a:t>
            </a:r>
            <a:r>
              <a:rPr lang="en-IN" dirty="0" err="1"/>
              <a:t>dataframe.pivot_table</a:t>
            </a:r>
            <a:r>
              <a:rPr lang="en-IN" dirty="0"/>
              <a:t>(index="</a:t>
            </a:r>
            <a:r>
              <a:rPr lang="en-IN" dirty="0" err="1"/>
              <a:t>listed_in</a:t>
            </a:r>
            <a:r>
              <a:rPr lang="en-IN" dirty="0"/>
              <a:t>(type)",</a:t>
            </a:r>
          </a:p>
          <a:p>
            <a:r>
              <a:rPr lang="en-IN" dirty="0"/>
              <a:t>columns="online_order",</a:t>
            </a:r>
            <a:r>
              <a:rPr lang="en-IN" dirty="0" err="1"/>
              <a:t>aggfunc</a:t>
            </a:r>
            <a:r>
              <a:rPr lang="en-IN" dirty="0"/>
              <a:t>="size",</a:t>
            </a:r>
            <a:r>
              <a:rPr lang="en-IN" dirty="0" err="1"/>
              <a:t>fill_value</a:t>
            </a:r>
            <a:r>
              <a:rPr lang="en-IN" dirty="0"/>
              <a:t>=0)</a:t>
            </a:r>
          </a:p>
          <a:p>
            <a:r>
              <a:rPr lang="en-IN" dirty="0" err="1"/>
              <a:t>sns.heatmap</a:t>
            </a:r>
            <a:r>
              <a:rPr lang="en-IN" dirty="0"/>
              <a:t>(</a:t>
            </a:r>
            <a:r>
              <a:rPr lang="en-IN" dirty="0" err="1"/>
              <a:t>pivot_table,annot</a:t>
            </a:r>
            <a:r>
              <a:rPr lang="en-IN" dirty="0"/>
              <a:t>=</a:t>
            </a:r>
            <a:r>
              <a:rPr lang="en-IN" dirty="0" err="1"/>
              <a:t>True,cmap</a:t>
            </a:r>
            <a:r>
              <a:rPr lang="en-IN" dirty="0"/>
              <a:t>="</a:t>
            </a:r>
            <a:r>
              <a:rPr lang="en-IN" dirty="0" err="1"/>
              <a:t>YlGnBu</a:t>
            </a:r>
            <a:r>
              <a:rPr lang="en-IN" dirty="0"/>
              <a:t>",</a:t>
            </a:r>
            <a:r>
              <a:rPr lang="en-IN" dirty="0" err="1"/>
              <a:t>fmt</a:t>
            </a:r>
            <a:r>
              <a:rPr lang="en-IN" dirty="0"/>
              <a:t>="d")</a:t>
            </a:r>
          </a:p>
          <a:p>
            <a:r>
              <a:rPr lang="en-IN" dirty="0" err="1"/>
              <a:t>plt.title</a:t>
            </a:r>
            <a:r>
              <a:rPr lang="en-IN" dirty="0"/>
              <a:t>("</a:t>
            </a:r>
            <a:r>
              <a:rPr lang="en-IN" dirty="0" err="1"/>
              <a:t>Headmap</a:t>
            </a:r>
            <a:r>
              <a:rPr lang="en-IN" dirty="0"/>
              <a:t>")</a:t>
            </a:r>
          </a:p>
          <a:p>
            <a:r>
              <a:rPr lang="en-IN" dirty="0" err="1"/>
              <a:t>plt.xlabel</a:t>
            </a:r>
            <a:r>
              <a:rPr lang="en-IN" dirty="0"/>
              <a:t>("online order ")</a:t>
            </a:r>
          </a:p>
          <a:p>
            <a:r>
              <a:rPr lang="en-IN" dirty="0" err="1"/>
              <a:t>plt.ylabel</a:t>
            </a:r>
            <a:r>
              <a:rPr lang="en-IN" dirty="0"/>
              <a:t>("listed in (type)")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C8F55-5DC4-821B-5E1A-2719FD92F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285" y="1596541"/>
            <a:ext cx="6833418" cy="526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54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060C99-36D7-0EE2-B3ED-D8F4A3B3F74F}"/>
              </a:ext>
            </a:extLst>
          </p:cNvPr>
          <p:cNvSpPr txBox="1"/>
          <p:nvPr/>
        </p:nvSpPr>
        <p:spPr>
          <a:xfrm>
            <a:off x="152400" y="276603"/>
            <a:ext cx="11179277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i="0" dirty="0" err="1">
                <a:solidFill>
                  <a:schemeClr val="accent1">
                    <a:lumMod val="50000"/>
                  </a:schemeClr>
                </a:solidFill>
                <a:effectLst/>
                <a:latin typeface="Helvetica Neue"/>
              </a:rPr>
              <a:t>Canclution</a:t>
            </a:r>
            <a:endParaRPr lang="en-US" sz="4400" b="1" i="0" dirty="0">
              <a:solidFill>
                <a:schemeClr val="accent1">
                  <a:lumMod val="50000"/>
                </a:schemeClr>
              </a:solidFill>
              <a:effectLst/>
              <a:latin typeface="Helvetica Neue"/>
            </a:endParaRPr>
          </a:p>
          <a:p>
            <a:pPr algn="ctr"/>
            <a:endParaRPr lang="en-US" sz="4400" b="1" dirty="0">
              <a:solidFill>
                <a:schemeClr val="accent1">
                  <a:lumMod val="50000"/>
                </a:schemeClr>
              </a:solidFill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majority of the restaurant falls in dinning category.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majority of the restaurant falls in dinning category.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the majority restaurants received ratings from 3.5 to 4.0.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he majority of couples prefer restaurants with an approximate cost of 300 rupee.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offline order received lower order compering to online order.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Dinning restaurants primarily accept offline orders. Whereas person cafes</a:t>
            </a:r>
            <a:r>
              <a:rPr lang="en-US" sz="2400" b="1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primarily receive online orders. This suggest that clints 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Helvetica Neue"/>
              </a:rPr>
              <a:t>prefered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 placed orders in person a restaurants , but prefer online ordering at cafes.</a:t>
            </a:r>
          </a:p>
          <a:p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>
              <a:buFont typeface="+mj-lt"/>
              <a:buAutoNum type="arabicPeriod"/>
            </a:pP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>
              <a:buFont typeface="+mj-lt"/>
              <a:buAutoNum type="arabicPeriod"/>
            </a:pP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>
              <a:buFont typeface="+mj-lt"/>
              <a:buAutoNum type="arabicPeriod"/>
            </a:pP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>
              <a:buFont typeface="+mj-lt"/>
              <a:buAutoNum type="arabicPeriod"/>
            </a:pP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>
              <a:buFont typeface="+mj-lt"/>
              <a:buAutoNum type="arabicPeriod"/>
            </a:pP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endParaRPr lang="en-US" b="1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65A83E-C306-F206-A064-BB3E3F099AB4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7200899" y="2600405"/>
            <a:ext cx="3880056" cy="533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778463-C06B-AC0D-929F-81D890BBE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7048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​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C24F1F-1A58-B9D5-8A78-D8320DB0E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1221"/>
            <a:ext cx="65" cy="379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1A5692-FE6A-88D2-81FF-46B76F2D0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7048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herit"/>
                <a:cs typeface="Courier New" panose="02070309020205020404" pitchFamily="49" charset="0"/>
              </a:rPr>
              <a:t>​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513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461932-CE40-ABA3-DB30-1CE1FF8D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7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755</Words>
  <Application>Microsoft Office PowerPoint</Application>
  <PresentationFormat>Widescreen</PresentationFormat>
  <Paragraphs>190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Helvetica Neue</vt:lpstr>
      <vt:lpstr>inherit</vt:lpstr>
      <vt:lpstr>Office Theme</vt:lpstr>
      <vt:lpstr>DATA ANALYSIS PROJECT USING PYTHON</vt:lpstr>
      <vt:lpstr>ABOUT THE  PROJECT 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Arti Pawar</dc:creator>
  <cp:lastModifiedBy>Arti Pawar</cp:lastModifiedBy>
  <cp:revision>2</cp:revision>
  <dcterms:created xsi:type="dcterms:W3CDTF">2024-09-21T08:00:46Z</dcterms:created>
  <dcterms:modified xsi:type="dcterms:W3CDTF">2024-09-21T09:01:39Z</dcterms:modified>
</cp:coreProperties>
</file>